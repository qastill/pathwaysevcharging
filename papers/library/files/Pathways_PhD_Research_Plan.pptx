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731520"/>
            <a:ext cx="109728" cy="109728"/>
          </a:xfrm>
          <a:prstGeom prst="ellipse">
            <a:avLst/>
          </a:prstGeom>
          <a:solidFill>
            <a:srgbClr val="1DB87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731520"/>
            <a:ext cx="109728" cy="109728"/>
          </a:xfrm>
          <a:prstGeom prst="ellipse">
            <a:avLst/>
          </a:prstGeom>
          <a:solidFill>
            <a:srgbClr val="1DB87A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1DB87A">
              <a:alpha val="8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09760" y="1554480"/>
            <a:ext cx="109728" cy="109728"/>
          </a:xfrm>
          <a:prstGeom prst="ellipse">
            <a:avLst/>
          </a:prstGeom>
          <a:solidFill>
            <a:srgbClr val="1DB87A">
              <a:alpha val="7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1554480"/>
            <a:ext cx="109728" cy="109728"/>
          </a:xfrm>
          <a:prstGeom prst="ellipse">
            <a:avLst/>
          </a:prstGeom>
          <a:solidFill>
            <a:srgbClr val="1DB87A">
              <a:alpha val="6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1554480"/>
            <a:ext cx="109728" cy="109728"/>
          </a:xfrm>
          <a:prstGeom prst="ellipse">
            <a:avLst/>
          </a:prstGeom>
          <a:solidFill>
            <a:srgbClr val="1DB87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09760" y="2377440"/>
            <a:ext cx="109728" cy="109728"/>
          </a:xfrm>
          <a:prstGeom prst="ellipse">
            <a:avLst/>
          </a:prstGeom>
          <a:solidFill>
            <a:srgbClr val="1DB87A">
              <a:alpha val="5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564624" y="786384"/>
            <a:ext cx="1554480" cy="1554480"/>
          </a:xfrm>
          <a:prstGeom prst="line">
            <a:avLst/>
          </a:prstGeom>
          <a:noFill/>
          <a:ln w="12700">
            <a:solidFill>
              <a:srgbClr val="1DB87A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0515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1DB8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RESEARCH PLAN — YEAR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Pathways to Advancing</a:t>
            </a:r>
            <a:endParaRPr lang="en-US" sz="44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Transportation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Equity of EV Charging Infrastructure (SPKLU) in West Java, Indonesia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4572000"/>
            <a:ext cx="10515600" cy="0"/>
          </a:xfrm>
          <a:prstGeom prst="line">
            <a:avLst/>
          </a:prstGeom>
          <a:noFill/>
          <a:ln w="12700">
            <a:solidFill>
              <a:srgbClr val="2A4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00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Qashtalani Haramaini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Monash University · Ariel Liebman RACE for 2030 PhD Program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Dr. Alyas Widita · Dr. Liz Taylor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three-year dissertation in four parts — four research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research, why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public charging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stations, 2023–2024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3258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1463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1772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SPKLU nationwide, spatially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with capacity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3258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1463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101,020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6676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transactions across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stations in West Java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expansion, uneven outcomes.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PLN's rapid SPKLU rollout has not translated into balanced regional coverage — Jakarta, Banten, and West Java concentrate both EVs and stations, while many regions remain underserved.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quasi-natural experiment.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staggered, policy-induced timing of station openings lets us study how infrastructure is allocated, how it is experienced by users, and what it causes — not just where it is.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7F5EE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Alignment: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for 2030 priorities — EV–grid integration, smart charging, equitable access — with transferable lessons for regional and remote Australia.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 infrastructure literature does — and what it misses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0B1F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not spatial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0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counted at national or metro scale, obscuring sub-national disparities.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GIS-based distributive equity analysis at district level, urban vs rural.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0B1F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423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Small-sample perception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0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views captured via limited surveys — poor spatial and temporal coverage.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17720" y="4343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user-generated reviews classified with ML/NLP, explained with SHAP.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0B1F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423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not causation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31089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0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effects rarely identified causally; developed-economy bias.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4343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DiD on Indonesia's 300% expansion — an emerging-economy quasi-experiment.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spatial equity + user perception + causal inference, integrated on one large transaction-level dataset — rare even in developed-economy studies.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dissertation, four parts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measuring demand → assessing fairness → identifying causal effects → synthesising equity vs equality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2293F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DB8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Latent Demand to Right-Sized Supply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bias-corrected, network-based framework for EV charging deployment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864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3310128"/>
            <a:ext cx="256032" cy="310896"/>
          </a:xfrm>
          <a:prstGeom prst="rightArrow">
            <a:avLst/>
          </a:prstGeom>
          <a:solidFill>
            <a:srgbClr val="1DB87A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2293F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8745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DB8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9312" y="23317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Equity × User-Perceived Performance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39312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assessing distributive equity and perceived reliability &amp; accessibility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39312" y="4864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44184" y="3310128"/>
            <a:ext cx="256032" cy="310896"/>
          </a:xfrm>
          <a:prstGeom prst="rightArrow">
            <a:avLst/>
          </a:prstGeom>
          <a:solidFill>
            <a:srgbClr val="1DB87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2784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2293F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8745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DB8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55664" y="23317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Redistribute Demand?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55664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effects of building new charging infrastructure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55664" y="4864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60536" y="3310128"/>
            <a:ext cx="256032" cy="310896"/>
          </a:xfrm>
          <a:prstGeom prst="rightArrow">
            <a:avLst/>
          </a:prstGeom>
          <a:solidFill>
            <a:srgbClr val="1DB87A"/>
          </a:solidFill>
          <a:ln/>
        </p:spPr>
      </p:sp>
      <p:sp>
        <p:nvSpPr>
          <p:cNvPr id="22" name="Shape 20"/>
          <p:cNvSpPr/>
          <p:nvPr/>
        </p:nvSpPr>
        <p:spPr>
          <a:xfrm>
            <a:off x="9089136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2293F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72016" y="18745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DB8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72016" y="23317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Inequity &amp; Inequality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272016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vs vertical equity — synthesis and policy framework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72016" y="4864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= one paper = one research question, on a shared data backbone: 101,020 transactions · 330 stations · user reviews · socioeconomic indicators.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research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63624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1DB8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389888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latent charging demand exists at each location, and how can supply be right-sized to match it — correcting for the bias that we only observe demand where stations already exist?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578608"/>
            <a:ext cx="10881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62072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1DB8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688336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is the distribution of SPKLU equitable relative to socioeconomic conditions, and how do users perceive its reliability and accessibility?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877056"/>
            <a:ext cx="10881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1605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1DB8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3986784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building new charging infrastructure create new demand, or merely redistribute existing demand from nearby stations?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175504"/>
            <a:ext cx="10881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458968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5285232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inequity and inequality in charging access differ across urban–rural and income lines — and which policy levers close which gap?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Latent Demand to Right-Sized Supply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011680" y="88696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bias-corrected, network-based framework for EV charging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7F5EE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447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latent demand exists at each location, and how can supply be right-sized — correcting for the sample-selection bias of observing demand only where stations exist?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101,020 transactions, 330 SPKLU (West Java)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attributes: capacity, connector type, operator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density, road network, land use, population grid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Two-parameter, transaction-calibrated demand model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spatial k-fold CV (vs random k-fold)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correction: latent vs observed demand; network-based accessibility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Out-of-bag validation, SHAP-style feature diagnostics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— IEEE journal, “Ex-Ante Prediction of Station-Level Energy Sales” (target: submit Mar 2027)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prediction for candidate sites, before construction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Siting decision tool (GeoSPKLU dashboard)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full draft exists — Year 1 focus is tightening validation and journal submission. Feeds the demand baseline used by Parts 2–4.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Equity × User-Perceived Performance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011680" y="88696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assessing distributive spatial equity and how users actually experience the network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7F5EE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447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is SPKLU distribution equitable relative to socioeconomic conditions — and how do users perceive reliability and accessibility?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Jan 2024 – Jun 2026 (usage, not just access)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reviews: Google Maps + PLN app (large-scale, geotagged)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indicators: income proxies, urbanisation, population density (BPS)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 curves, Gini coefficient, composite equity index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+ Geographically Weighted Regression (GWR)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TF–IDF, topic identification, supervised sentiment classifiers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 to surface drivers of perception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— “From Access to Use: Horizontal &amp; Vertical Equity, Returns to Network Density, and Explainable Perception Analytics”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equity maps; underserved-area index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drivers of negative perception (queueing, downtime, access)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full draft exists. Key task: harmonise the data window with Paper 1 and finalise the joint equity–perception framework.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Building More Charging Create or Redistribute Demand?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011680" y="88696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identification using Indonesia's staggered SPKLU rollout as a quasi-natural experiment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7F5EE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447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new stations generate additional charging demand (market growth), or cannibalise demand from nearby existing stations (redistribution)?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of station-month kWh sales, staggered opening dates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300% expansion 2023–2024 = plausibly exogenous timing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rings around each new entrant (treatment intensity)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Difference-in-Differences (Callaway–Sant'Anna style estimators)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Event-study design: pre-trends, dynamic effects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spillover specification: effects by distance band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alternative control groups, placebo openings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— causal estimates of demand creation vs redistribution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of network usage to network density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guidance: where a new station adds value vs cannibalises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not yet started — designed in Year 1, executed in Year 2 once the post-expansion panel is long enough.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Inequity &amp; Inequality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011680" y="88696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unfair access (inequity) from unequal access (inequality) — synthesis and policy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7F5EE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447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inequity and inequality in charging access differ across urban–rural and income lines — and which policy levers close which gap?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outputs of Parts 1–3 (demand, equity, causal effects)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Urban–rural typology; income and vehicle-ownership strata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scenarios: siting rules, tariff design, incentive targeting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vs vertical equity decomposition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Inequality indices (Theil, between/within-group decomposition)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Need-adjusted accessibility: equal access ≠ equitable access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on the Part 1 siting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0175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4 — synthesis paper + concluding dissertation chapter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framework: which interventions target inequity vs inequality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PLN, local government, and regulators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conceptual stage — the integrative chapter that turns three empirical papers into one policy argument.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 backbone, two analytical streams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Geocoded stations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04672" y="1737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SPKLU nationwide; 330 in West Java with capacity &amp; status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56432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024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21024" y="1737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101,020 charging sessions, station-level kWh, Jan 2024–Jun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2784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37376" y="1737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&amp; PLN app — unstructured, geotagged 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89136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53728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253728" y="1737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BPS: income proxies, urbanisation, population density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70448" y="2761488"/>
            <a:ext cx="457200" cy="384048"/>
          </a:xfrm>
          <a:prstGeom prst="downArrow">
            <a:avLst/>
          </a:prstGeom>
          <a:solidFill>
            <a:srgbClr val="1DB87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461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1012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geocoding &amp; spatial aggregation to district level · text cleaning &amp; labelling · panel construction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108960" y="4023360"/>
            <a:ext cx="457200" cy="365760"/>
          </a:xfrm>
          <a:prstGeom prst="downArrow">
            <a:avLst/>
          </a:prstGeom>
          <a:solidFill>
            <a:srgbClr val="1DB87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4023360"/>
            <a:ext cx="457200" cy="365760"/>
          </a:xfrm>
          <a:prstGeom prst="downArrow">
            <a:avLst/>
          </a:prstGeom>
          <a:solidFill>
            <a:srgbClr val="1DB87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52628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1DB8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451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equity stream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49834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&amp; accessibility measures → Lorenz–Gini &amp; composite equity index → OLS / GWR to explain distribution → underserved areas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52628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6451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behaviour stream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46520" y="49834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TF–IDF &amp; topics → supervised classification of reliability / accessibility → SHAP explainability → drivers of (dis)satisfaction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milestones (Aug 2026 – Jul 2027)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377440" y="1554480"/>
            <a:ext cx="0" cy="4754880"/>
          </a:xfrm>
          <a:prstGeom prst="line">
            <a:avLst/>
          </a:prstGeom>
          <a:noFill/>
          <a:ln w="25400">
            <a:solidFill>
              <a:srgbClr val="DDE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58568" y="1545336"/>
            <a:ext cx="246888" cy="246888"/>
          </a:xfrm>
          <a:prstGeom prst="ellipse">
            <a:avLst/>
          </a:prstGeom>
          <a:solidFill>
            <a:srgbClr val="1DB87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35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4173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research proposal submitted  </a:t>
            </a:r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four-part structure locked with supervisors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258568" y="2514600"/>
            <a:ext cx="246888" cy="246888"/>
          </a:xfrm>
          <a:prstGeom prst="ellipse">
            <a:avLst/>
          </a:prstGeom>
          <a:solidFill>
            <a:srgbClr val="1DB87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048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38658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approval (MUHREC)  </a:t>
            </a:r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Covers user-review data collection &amp; handling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258568" y="3483864"/>
            <a:ext cx="246888" cy="24688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413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33558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submitted — Q1 journal  </a:t>
            </a:r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Ex-ante station-level kWh prediction (IEEE)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258568" y="4453128"/>
            <a:ext cx="246888" cy="24688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43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432511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Candidature  </a:t>
            </a:r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Paper 2 advanced draft; Part 3 design complete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258568" y="5422392"/>
            <a:ext cx="246888" cy="24688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126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Jul–Aug 2027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5294376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— Monash Melbourne  </a:t>
            </a:r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6-month funded placement, RACE for 2030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2743200" y="6263640"/>
            <a:ext cx="8778240" cy="914"/>
          </a:xfrm>
          <a:prstGeom prst="roundRect">
            <a:avLst/>
          </a:prstGeom>
          <a:solidFill>
            <a:srgbClr val="F4F7F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12293F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B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spatial analysis, explainable ML, and causal inference on one transaction-level dataset; advances computational social science in an emerging-economy energy context.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12293F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B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17720" y="201168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location prioritisation, reliability improvement, and targeted intervention in underserved regions — national and subnational EV strategy.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12293F"/>
          </a:solidFill>
          <a:ln w="12700">
            <a:solidFill>
              <a:srgbClr val="2745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B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66760" y="201168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for PLN (planning &amp; operations), local governments (spatial planning), and investors (demand patterns &amp; service gaps).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881360" cy="0"/>
          </a:xfrm>
          <a:prstGeom prst="line">
            <a:avLst/>
          </a:prstGeom>
          <a:noFill/>
          <a:ln w="12700">
            <a:solidFill>
              <a:srgbClr val="2A42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parts. Four questions. One argument: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303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equitable EV transition needs charging built where latent demand and social need meet — not just where it is easiest.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Qashtalani Haramaini · Monash University · RACE for 2030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2026-08-23T01:12:55Z</dcterms:created>
  <dcterms:modified xsi:type="dcterms:W3CDTF">2026-08-23T01:12:55Z</dcterms:modified>
</cp:coreProperties>
</file>